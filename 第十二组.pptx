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7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9" r:id="rId9"/>
    <p:sldId id="265" r:id="rId10"/>
    <p:sldId id="266" r:id="rId11"/>
    <p:sldId id="267" r:id="rId12"/>
    <p:sldId id="270" r:id="rId13"/>
    <p:sldId id="271" r:id="rId14"/>
    <p:sldId id="272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45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9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0D620-CF2F-41B5-B749-06D5E75FA072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B1B2A-F7D7-4695-8248-8B5D7CE86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983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B1B2A-F7D7-4695-8248-8B5D7CE867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965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B1B2A-F7D7-4695-8248-8B5D7CE867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636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B1B2A-F7D7-4695-8248-8B5D7CE8671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25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AEF0C-1D7A-CBA0-79FE-004BF55AD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F86D5D-FCBD-D09D-820F-647923EA3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88B68D-792E-F985-5359-F47A35B71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13A51D-36E2-4550-8B27-76E9C282F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B1B2A-F7D7-4695-8248-8B5D7CE8671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6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755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409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84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70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46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69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16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09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79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585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2EA902-4CC2-804C-D81B-F9B2E9E1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D3F7E-F8A4-4012-8943-49697DCD1EFA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37842C-A288-CB14-0EF2-6E2FE463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CDE33B-7BB2-3DA3-F4C8-8DA24C94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62AC-E4BD-4A21-A185-0A624D66F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35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CBEE5-FACF-47CE-A2D9-8045AF8D3D97}" type="datetimeFigureOut">
              <a:rPr lang="zh-CN" altLang="en-US" smtClean="0"/>
              <a:t>2025-12-24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2AC04-17D6-434F-B099-EAF9DAA56E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1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LizPink/Financial-Big-Data-V2.0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14256" y="760207"/>
            <a:ext cx="7715487" cy="1134075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zh-CN" altLang="en-US" sz="1191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801560" y="4510908"/>
            <a:ext cx="1545040" cy="158688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3" y="398458"/>
            <a:ext cx="9143916" cy="6695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8245B9B-6AD4-ACED-E1E8-1637F9D73649}"/>
              </a:ext>
            </a:extLst>
          </p:cNvPr>
          <p:cNvSpPr/>
          <p:nvPr/>
        </p:nvSpPr>
        <p:spPr>
          <a:xfrm>
            <a:off x="0" y="-1"/>
            <a:ext cx="9142947" cy="497839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44453" algn="ctr" eaLnBrk="0">
              <a:lnSpc>
                <a:spcPct val="98000"/>
              </a:lnSpc>
            </a:pPr>
            <a:endParaRPr lang="zh-CN" altLang="en-US" sz="1588" kern="0" spc="119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63F618F-4865-278A-F5EB-080E2897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灯片编号占位符 7">
            <a:extLst>
              <a:ext uri="{FF2B5EF4-FFF2-40B4-BE49-F238E27FC236}">
                <a16:creationId xmlns:a16="http://schemas.microsoft.com/office/drawing/2014/main" id="{E9BA0DC8-9B28-343A-9B73-F7916FA98BFC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2E60D97-8E73-8B7A-B93C-5595999B4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794618"/>
              </p:ext>
            </p:extLst>
          </p:nvPr>
        </p:nvGraphicFramePr>
        <p:xfrm>
          <a:off x="0" y="61093"/>
          <a:ext cx="91429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6C2CF35C-519A-A5AF-5813-854696C126BC}"/>
              </a:ext>
            </a:extLst>
          </p:cNvPr>
          <p:cNvSpPr txBox="1"/>
          <p:nvPr/>
        </p:nvSpPr>
        <p:spPr>
          <a:xfrm>
            <a:off x="3158306" y="2355415"/>
            <a:ext cx="2826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第十二小组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2025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年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</a:rPr>
              <a:t>24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A9F474-3CA5-AFB5-A728-62EE8E2D3FE0}"/>
              </a:ext>
            </a:extLst>
          </p:cNvPr>
          <p:cNvSpPr txBox="1"/>
          <p:nvPr/>
        </p:nvSpPr>
        <p:spPr>
          <a:xfrm>
            <a:off x="2469538" y="3955129"/>
            <a:ext cx="4203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GitHub -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LizPink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/Financial-Big-Data-V2.0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43D1FF-8B53-FD79-6B74-C80AADE897CB}"/>
              </a:ext>
            </a:extLst>
          </p:cNvPr>
          <p:cNvSpPr txBox="1"/>
          <p:nvPr/>
        </p:nvSpPr>
        <p:spPr>
          <a:xfrm>
            <a:off x="753551" y="781612"/>
            <a:ext cx="76761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机器学习与美元指数收益率预测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多期限下的可预测性与经济检验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9833" y="2705899"/>
            <a:ext cx="267818" cy="2678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9833" y="3459755"/>
            <a:ext cx="267818" cy="2678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9833" y="4213612"/>
            <a:ext cx="267818" cy="2678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9833" y="1952042"/>
            <a:ext cx="267818" cy="2678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722791" y="1902505"/>
            <a:ext cx="4769547" cy="336189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98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323" eaLnBrk="0">
              <a:lnSpc>
                <a:spcPct val="96000"/>
              </a:lnSpc>
            </a:pPr>
            <a:r>
              <a:rPr sz="1786" kern="0" spc="99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786" kern="0" spc="238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984" b="1" kern="0" spc="99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引言</a:t>
            </a:r>
            <a:endParaRPr sz="1984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8000"/>
              </a:lnSpc>
            </a:pPr>
            <a:endParaRPr sz="1984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722" eaLnBrk="0">
              <a:lnSpc>
                <a:spcPct val="95000"/>
              </a:lnSpc>
              <a:spcBef>
                <a:spcPts val="595"/>
              </a:spcBef>
            </a:pPr>
            <a:r>
              <a:rPr sz="1786" kern="0" spc="119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786" kern="0" spc="238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984" b="1" kern="0" spc="119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数据与模型</a:t>
            </a:r>
            <a:endParaRPr sz="1984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9000"/>
              </a:lnSpc>
            </a:pPr>
            <a:endParaRPr sz="1984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722" eaLnBrk="0">
              <a:lnSpc>
                <a:spcPct val="95000"/>
              </a:lnSpc>
              <a:spcBef>
                <a:spcPts val="605"/>
              </a:spcBef>
            </a:pPr>
            <a:r>
              <a:rPr sz="1786" kern="0" spc="119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786" kern="0" spc="238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984" b="1" kern="0" spc="119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经济检验</a:t>
            </a:r>
            <a:endParaRPr sz="1984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9000"/>
              </a:lnSpc>
            </a:pPr>
            <a:endParaRPr sz="1984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202" eaLnBrk="0">
              <a:lnSpc>
                <a:spcPct val="95000"/>
              </a:lnSpc>
              <a:spcBef>
                <a:spcPts val="615"/>
              </a:spcBef>
            </a:pPr>
            <a:r>
              <a:rPr sz="1786" kern="0" spc="119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786" kern="0" spc="258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lang="zh-CN" altLang="en-US" sz="1984" b="1" kern="0" spc="119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</a:rPr>
              <a:t>总结</a:t>
            </a:r>
            <a:endParaRPr sz="1984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29000"/>
              </a:lnSpc>
            </a:pPr>
            <a:endParaRPr sz="1984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397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19E5FD1-7FF1-A175-34FA-F5FC950CE3EE}"/>
              </a:ext>
            </a:extLst>
          </p:cNvPr>
          <p:cNvGrpSpPr/>
          <p:nvPr/>
        </p:nvGrpSpPr>
        <p:grpSpPr>
          <a:xfrm>
            <a:off x="545" y="-9484"/>
            <a:ext cx="9144926" cy="474888"/>
            <a:chOff x="-255" y="-4779"/>
            <a:chExt cx="4608450" cy="239313"/>
          </a:xfrm>
        </p:grpSpPr>
        <p:sp>
          <p:nvSpPr>
            <p:cNvPr id="11" name="textbox 72">
              <a:extLst>
                <a:ext uri="{FF2B5EF4-FFF2-40B4-BE49-F238E27FC236}">
                  <a16:creationId xmlns:a16="http://schemas.microsoft.com/office/drawing/2014/main" id="{1622327F-192E-B613-9ECC-F888129C4B5C}"/>
                </a:ext>
              </a:extLst>
            </p:cNvPr>
            <p:cNvSpPr/>
            <p:nvPr/>
          </p:nvSpPr>
          <p:spPr>
            <a:xfrm>
              <a:off x="0" y="50"/>
              <a:ext cx="4608195" cy="202565"/>
            </a:xfrm>
            <a:prstGeom prst="rect">
              <a:avLst/>
            </a:prstGeom>
            <a:solidFill>
              <a:srgbClr val="19234D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98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pic>
          <p:nvPicPr>
            <p:cNvPr id="12" name="picture 76">
              <a:extLst>
                <a:ext uri="{FF2B5EF4-FFF2-40B4-BE49-F238E27FC236}">
                  <a16:creationId xmlns:a16="http://schemas.microsoft.com/office/drawing/2014/main" id="{B0821439-C8FF-131E-BFAE-23915980C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200795"/>
              <a:ext cx="4607941" cy="33739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41573C3-F06E-F716-40AC-2AD0B4DC403B}"/>
                </a:ext>
              </a:extLst>
            </p:cNvPr>
            <p:cNvSpPr txBox="1"/>
            <p:nvPr/>
          </p:nvSpPr>
          <p:spPr>
            <a:xfrm>
              <a:off x="-255" y="-4779"/>
              <a:ext cx="4607179" cy="167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44458" algn="ctr" eaLnBrk="0">
                <a:lnSpc>
                  <a:spcPct val="98000"/>
                </a:lnSpc>
              </a:pPr>
              <a:endParaRPr lang="zh-CN" altLang="en-US" sz="1588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4" name="picture 4">
            <a:extLst>
              <a:ext uri="{FF2B5EF4-FFF2-40B4-BE49-F238E27FC236}">
                <a16:creationId xmlns:a16="http://schemas.microsoft.com/office/drawing/2014/main" id="{0A82040D-18FC-94DC-10AA-94C6399FD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6" name="灯片编号占位符 7">
            <a:extLst>
              <a:ext uri="{FF2B5EF4-FFF2-40B4-BE49-F238E27FC236}">
                <a16:creationId xmlns:a16="http://schemas.microsoft.com/office/drawing/2014/main" id="{75F448DA-4620-9829-9A90-5CB5F3B9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2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7">
            <a:extLst>
              <a:ext uri="{FF2B5EF4-FFF2-40B4-BE49-F238E27FC236}">
                <a16:creationId xmlns:a16="http://schemas.microsoft.com/office/drawing/2014/main" id="{EE1B4A38-BD43-AB9B-DDD8-30BC0200E932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4A7A7F8-3A35-8A62-7F21-F0112B935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349761"/>
              </p:ext>
            </p:extLst>
          </p:nvPr>
        </p:nvGraphicFramePr>
        <p:xfrm>
          <a:off x="0" y="52690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DEE1447F-56B4-9709-7D78-6EE62D0DF744}"/>
              </a:ext>
            </a:extLst>
          </p:cNvPr>
          <p:cNvSpPr txBox="1"/>
          <p:nvPr/>
        </p:nvSpPr>
        <p:spPr>
          <a:xfrm>
            <a:off x="564078" y="819397"/>
            <a:ext cx="3141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楷体" panose="02010609060101010101" pitchFamily="49" charset="-122"/>
                <a:ea typeface="楷体" panose="02010609060101010101" pitchFamily="49" charset="-122"/>
              </a:rPr>
              <a:t>内容安排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924AD4-D2CF-A73A-9D06-F85829FE36E9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/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一、引言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935DD6C-463B-6090-A369-057B27AE3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59CC4B2A-2F63-4F97-6B6F-10EF3888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3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22C1A7B9-55BA-5368-EAF8-410D0012BF5B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423FB57-78C8-0CC4-8779-00C690F68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33879"/>
              </p:ext>
            </p:extLst>
          </p:nvPr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FAAAAC4-88D3-4D21-55E4-EB0459FB42D6}"/>
              </a:ext>
            </a:extLst>
          </p:cNvPr>
          <p:cNvSpPr txBox="1"/>
          <p:nvPr/>
        </p:nvSpPr>
        <p:spPr>
          <a:xfrm>
            <a:off x="326571" y="1401288"/>
            <a:ext cx="857398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（一）早期汇率预测的难题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在浮动汇率制度下，汇率预测具有重要意义。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1980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年代以来，普遍认为名义汇率的短期波动往往接近随机游走。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传统宏观货币模型与计量模型在样本外预测上很难稳定战胜基准（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Meese–Rogoff puzzle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</a:rPr>
              <a:t>（二）更高频的数据和更复杂的模型背景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我们的核心问题是：在日度数据和多维特征下，机器学习能否在样本外预测中为美元指数带来稳定增益？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这种增益在不同预测期限内是否存在不同？并且，预测改进能否转化为可交易的经济收益？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7E76-40DD-298C-F53F-E17FF5FB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CD61952-493E-95D8-B541-B724A945C5B3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2128FC90-CAB3-547B-5E15-8E327924AF29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41418E6A-50E1-B720-CFA3-E48A8D31F17D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980000A-8104-0AFB-836A-A2750916F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258A2607-F364-CB69-9237-D8DE0EDD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4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6CD8E962-5640-3A31-8BCD-0CE99046E7A8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0C1B4A5-E699-F56D-1953-31669910D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294195"/>
              </p:ext>
            </p:extLst>
          </p:nvPr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48924E8-B817-8C22-3DFD-E1448F64E60F}"/>
              </a:ext>
            </a:extLst>
          </p:cNvPr>
          <p:cNvSpPr txBox="1"/>
          <p:nvPr/>
        </p:nvSpPr>
        <p:spPr>
          <a:xfrm>
            <a:off x="284479" y="1098389"/>
            <a:ext cx="8573985" cy="34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（三）数据说明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对象：美元指数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来源：英为财经新闻网、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IMF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FRED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、自行计算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日期：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2006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年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3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月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29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日到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2025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年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10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月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31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日的日度样本，合并后共有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5088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条观测。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涵盖：宏观基本面、大宗商品与市场指数、情绪与不确定性、美元指数技术指标四个方面。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（四）预测范围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范围：未来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5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20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日内的对数收益率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原因：去除预测噪声，识别预测模式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137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003E-7CAD-D886-C49B-4A4F9474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0EA011-1296-9378-9D96-51BE90294804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A4FCD09B-75E8-899A-DBAE-4469F965B7D2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55C0E69F-A411-EECE-C7B7-19AE12A31708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59BCC83-D8D8-8EEB-7EAE-840951E96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0D62BDCE-0DC4-E090-1012-0DAF7BCF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5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6A7459E1-96E1-5CD8-C4E2-93418C225604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C651DFF-003D-ACB6-D57F-C030771D4AC3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84F7C4BF-B35C-6BE5-2DA1-BC85153B8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6" y="857479"/>
            <a:ext cx="9144000" cy="291243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D1C1595-BA18-AF48-B2AD-50BD3971DF98}"/>
              </a:ext>
            </a:extLst>
          </p:cNvPr>
          <p:cNvSpPr txBox="1"/>
          <p:nvPr/>
        </p:nvSpPr>
        <p:spPr>
          <a:xfrm>
            <a:off x="2624010" y="4714303"/>
            <a:ext cx="38832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原表</a:t>
            </a:r>
            <a:r>
              <a:rPr lang="en-US" altLang="zh-CN" sz="1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000" dirty="0">
                <a:latin typeface="楷体" panose="02010609060101010101" pitchFamily="49" charset="-122"/>
                <a:ea typeface="楷体" panose="02010609060101010101" pitchFamily="49" charset="-122"/>
              </a:rPr>
              <a:t> 相关的变量选择与数据处理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0976AFE-80EC-21CA-9889-FEB6A3B6E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762" y="3813457"/>
            <a:ext cx="9144000" cy="304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36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766E-CBCF-07D9-7A5A-19B3C955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2F7E447-DBFA-865A-AD39-D0503ECF8DEE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51BE8F3B-0783-6A22-A024-03BC1F9ACC1F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028EC894-0D55-B262-39D1-CE4A152955E5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2F96E9B-ED3A-4E21-FB6B-5D5BE5EDE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5B3C180C-6A2F-F57C-B737-9C3F5299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6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AC9809A7-51EE-2713-9BF0-A13949B20BBE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E768961-FF42-5648-D35D-9CC854DC57E6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AE17880-E8A9-C616-B794-0B8115740EDE}"/>
              </a:ext>
            </a:extLst>
          </p:cNvPr>
          <p:cNvSpPr txBox="1"/>
          <p:nvPr/>
        </p:nvSpPr>
        <p:spPr>
          <a:xfrm>
            <a:off x="301303" y="1029500"/>
            <a:ext cx="8573985" cy="44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（五）预测模型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基准模型：无漂移的随机游走（明天的价格等于今天的价格）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线性模型：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LASSO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Ridge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Elastic Net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非线性模型：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Random Forest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14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XGBoost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en-US" altLang="zh-CN" sz="14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LightGBM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（六）训练方法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数据集划分：训练与验证集（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80%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）、测试集（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20%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模型选择：在训练与验证集中选取最优超参数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训练窗口扩张、验证窗口向前滚动，计算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RMSE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平均值作为一个超参数组合的效果。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模型预测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得到最优超参数后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采用固定窗口的点预测：对于每一个预测点，使用历史所有数据进行参数训练，然后预测该点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425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FCDA-9591-3574-372B-F1B18178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39AA01-7620-E7C4-1763-6EE8C24E9D58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5EC0AAC3-FE19-E6C8-5E9B-2D175B98E4C1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4855E27-A1D7-B6C8-5E8D-6A37D4DC469F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92AA95DA-8F6B-58BD-A802-931403FAB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9920D3DD-0BB3-EEF2-1935-7102EE17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7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6DD2927F-D24F-31FB-020F-512BE517C17F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35E042-0C2D-BE79-D32A-B45E615E5749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A14CA9-CE38-9A8A-B0B6-7E33A8762334}"/>
              </a:ext>
            </a:extLst>
          </p:cNvPr>
          <p:cNvSpPr txBox="1"/>
          <p:nvPr/>
        </p:nvSpPr>
        <p:spPr>
          <a:xfrm>
            <a:off x="301303" y="935304"/>
            <a:ext cx="8573985" cy="1113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（七）基本结果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模型可以改善预测结果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预测存在明显的期限结构：期限越长，预测效果越高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FF880F-0357-D54D-286A-6A3CE5FF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" y="2126448"/>
            <a:ext cx="9144000" cy="415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31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967F-B2E3-AC2F-DC70-131BD388E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C2AF1B-021E-26DE-7A58-7F9CF562CBB9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0E0AC35E-AB6F-16F6-7585-21DFF2B69C62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AD241D7D-6D91-326C-16FF-E0D26AAED7AC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E29A726-3D68-1EA9-F7A3-39AC77FE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8A20D8F5-86A2-E2AB-A716-751E1107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8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49D38D69-9F80-1C38-93B9-2618C985CFBB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7F9BD6D-C95C-333A-9935-C687D3982A9B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9DFB8AB-A251-B697-0DDF-618FEB3F6BB8}"/>
              </a:ext>
            </a:extLst>
          </p:cNvPr>
          <p:cNvSpPr txBox="1"/>
          <p:nvPr/>
        </p:nvSpPr>
        <p:spPr>
          <a:xfrm>
            <a:off x="301303" y="935304"/>
            <a:ext cx="8573985" cy="11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（七）基本结果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预测存在明显的期限结构：期限越长，预测效果越高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以</a:t>
            </a:r>
            <a:r>
              <a:rPr lang="en-US" altLang="zh-CN" sz="14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LightGBM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为例：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EA6F1FC-C124-6540-2D48-CA11B9FA48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987" y="2205817"/>
            <a:ext cx="6736616" cy="38492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5403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FBCA-7454-E7A4-94C6-ADA1F3C5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FBE4B07-46B8-75B5-6C26-883398B620D3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C75F4B51-A117-EDF1-04A3-6571E0B90094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6872C4AB-B25E-2A21-ACB6-7D521951A54C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C769E0D-BCC8-BD49-2CFE-0CEDDF2DB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FDB26AC1-72D8-B8CD-A1C6-23EFF1784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9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EA750062-2319-47BC-5C66-C85509D4F798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DEAD1C-BF7A-6B40-A181-6F9E299AAEC5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7EB1B78-CD53-2EB6-FCBB-FBB2639FEDAB}"/>
              </a:ext>
            </a:extLst>
          </p:cNvPr>
          <p:cNvSpPr txBox="1"/>
          <p:nvPr/>
        </p:nvSpPr>
        <p:spPr>
          <a:xfrm>
            <a:off x="292364" y="985573"/>
            <a:ext cx="8573985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（八）特征重要性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对象：哪些变量在整个预测中具有重要作用？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FF90178-D0A8-21F6-D6F8-229287136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4" y="1775726"/>
            <a:ext cx="8747099" cy="422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90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339B-7DF2-98AF-795B-C162D804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737366-72CF-2111-17E0-506D1F688EAC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775D0D4-5839-63D2-F290-B60467451B58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二、数据与模型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88BB88DD-79DD-BC25-CDD0-1E91B39A935C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333BDA8-971E-3E3A-33C5-8E1806B1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1CBD4CF6-AB5D-78AE-78E4-CF66301F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10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3FD839C7-DBD9-C559-6313-3D969E226BEB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1E4286-6DAB-71F2-B3AB-1A72A9D45C7E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B0B4A38-F678-E547-AB8D-A6966DB31577}"/>
              </a:ext>
            </a:extLst>
          </p:cNvPr>
          <p:cNvSpPr txBox="1"/>
          <p:nvPr/>
        </p:nvSpPr>
        <p:spPr>
          <a:xfrm>
            <a:off x="301303" y="944088"/>
            <a:ext cx="8573985" cy="11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（九）拓展一：特征重要性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对象：随着时间动态变化的特征重要性（以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Ridge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H=1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和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RF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在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H=20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为例）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E6FE1B1-EDF3-F47D-F20B-46FBC8D4EE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978" y="4058202"/>
            <a:ext cx="527431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A1C9E7-D45F-CC85-6806-AF11DF145C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29" y="1746591"/>
            <a:ext cx="5274310" cy="2248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3119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3187-EFF9-CCCF-8A95-4AAEC622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13B64E-ED8D-C669-023D-21E958A23A15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A897052F-5A77-D307-E5F8-58A9E1920075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三、经济检验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88A3C07A-58CB-BAF9-252A-2B84DBB0A39B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ECB50CDF-F9BD-754F-D81A-F426A9BD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848C1597-6635-F744-4407-000D92021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11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16544848-A7F5-2AEB-97D8-24FE8BFA90E8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A6C913-5F66-2F5E-ED3C-B54A497A2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389285"/>
              </p:ext>
            </p:extLst>
          </p:nvPr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1B54A19-F326-D429-E849-B5F22DE7C6A6}"/>
              </a:ext>
            </a:extLst>
          </p:cNvPr>
          <p:cNvSpPr txBox="1"/>
          <p:nvPr/>
        </p:nvSpPr>
        <p:spPr>
          <a:xfrm>
            <a:off x="301303" y="857478"/>
            <a:ext cx="8573985" cy="30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（十）拓展二：经济检验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初衷：预测数值显著改进未必意味着模型具有经济含义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摩擦：交易成本、做多做空约束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经济检验的设定：</a:t>
            </a:r>
            <a:b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</a:b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、设定交易阈值</a:t>
            </a:r>
            <a:endParaRPr lang="en-US" altLang="zh-CN" sz="1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、设定调仓成本</a:t>
            </a:r>
            <a:endParaRPr lang="en-US" altLang="zh-CN" sz="1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、针对不同的期限进行调仓</a:t>
            </a:r>
            <a:endParaRPr lang="en-US" altLang="zh-CN" sz="1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234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4312-DB7B-CBE1-5FFC-2B95DD9B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51BFA3-DF75-5412-7522-AC573DCDB11D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4DB29D45-72E0-1776-4F3D-9CED9EDC3496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三、经济检验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88C0C304-663A-006D-EF32-7DE589DCC2C8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5310A18-9148-54D3-685C-AA5C9CB41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BC6C4DE2-AC03-A414-0B3B-D319F97C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12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EE7F016C-CF8E-56D4-F5F7-82770AE542D6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6ECDB54-7878-728D-8EE9-1173A0B4096F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556E9E9-7EB1-E63B-5697-16705113AB19}"/>
              </a:ext>
            </a:extLst>
          </p:cNvPr>
          <p:cNvSpPr txBox="1"/>
          <p:nvPr/>
        </p:nvSpPr>
        <p:spPr>
          <a:xfrm>
            <a:off x="301303" y="857478"/>
            <a:ext cx="8573985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（十）拓展二：经济检验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结果：考虑交易成本后，很多期限下模型策略仍能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显著改善风险调整收益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，且优势随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H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增大而增强。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1720115-D124-0FA4-D89A-338CB2F7C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5" y="4344785"/>
            <a:ext cx="9144000" cy="235788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466FB37-963C-E42E-88D6-90F1D85BE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5" y="1680785"/>
            <a:ext cx="9144000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71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FD108-6101-3999-9FBD-CE52967B3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6D877C-63EA-BC47-B363-1E8EEE33F716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F146D007-EF2B-FAE2-6D5F-E8E7ACFD3C9A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三、经济检验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B8B4F60-8B07-8A05-E48D-4E265F9B71C6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058B0E8-3985-0B5C-896C-56554A5C0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541DEFCD-9069-9CA8-5C9D-531F47D9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13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11406B97-1FE3-69E9-AEC6-096F58BA0C86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22670DF-657E-6597-F2A1-CE0A1EB2667F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7255AC7-17B5-8609-700E-9E205DBDB673}"/>
              </a:ext>
            </a:extLst>
          </p:cNvPr>
          <p:cNvSpPr txBox="1"/>
          <p:nvPr/>
        </p:nvSpPr>
        <p:spPr>
          <a:xfrm>
            <a:off x="301303" y="857478"/>
            <a:ext cx="8573985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（十）拓展二：经济检验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结果：考虑交易成本后，很多期限下模型策略仍能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显著改善风险调整收益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，且优势随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H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增大而增强。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95E5C31-B9C3-3168-1AD0-20BC55205AEB}"/>
              </a:ext>
            </a:extLst>
          </p:cNvPr>
          <p:cNvPicPr>
            <a:picLocks/>
          </p:cNvPicPr>
          <p:nvPr/>
        </p:nvPicPr>
        <p:blipFill>
          <a:blip r:embed="rId4"/>
          <a:srcRect r="1282"/>
          <a:stretch>
            <a:fillRect/>
          </a:stretch>
        </p:blipFill>
        <p:spPr>
          <a:xfrm>
            <a:off x="58089" y="1627576"/>
            <a:ext cx="9026765" cy="474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68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3A52-DB17-5476-2534-DD842230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DB2F4B8-333E-9BE7-908A-ED6494FE554F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1B40806B-3C8A-68BC-298E-B6F51307DCFA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三、经济检验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49D29CC3-21CA-502C-9898-76BA5A46BDE5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5A64976D-8164-A717-F368-9227608AF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86025B7D-690E-D414-F431-55B3BD63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14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AF2965E2-5CB8-B95B-8EF3-BD667D5090D1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390DFA4-47EB-C47C-23FE-34A2C28C4A9D}"/>
              </a:ext>
            </a:extLst>
          </p:cNvPr>
          <p:cNvGraphicFramePr>
            <a:graphicFrameLocks noGrp="1"/>
          </p:cNvGraphicFramePr>
          <p:nvPr/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4043A71-120F-C71C-C913-E98DB77FA9A9}"/>
              </a:ext>
            </a:extLst>
          </p:cNvPr>
          <p:cNvSpPr txBox="1"/>
          <p:nvPr/>
        </p:nvSpPr>
        <p:spPr>
          <a:xfrm>
            <a:off x="301303" y="857478"/>
            <a:ext cx="8573985" cy="79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（十）拓展二：经济检验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结果：考虑交易成本后，很多期限下模型策略仍能</a:t>
            </a:r>
            <a:r>
              <a:rPr lang="zh-CN" altLang="en-US" sz="1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显著改善风险调整收益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，且优势随 </a:t>
            </a:r>
            <a:r>
              <a:rPr lang="en-US" altLang="zh-CN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H </a:t>
            </a: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增大而增强。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B9C5BA-9131-7DDE-D23D-277CEAF84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" y="1647631"/>
            <a:ext cx="9144000" cy="478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07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3D0E9-585E-DF72-C0D7-6AD77D4A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26782D6-4B19-19E7-0D31-A534587938EA}"/>
              </a:ext>
            </a:extLst>
          </p:cNvPr>
          <p:cNvSpPr/>
          <p:nvPr/>
        </p:nvSpPr>
        <p:spPr>
          <a:xfrm>
            <a:off x="0" y="-4446"/>
            <a:ext cx="9158716" cy="497838"/>
          </a:xfrm>
          <a:prstGeom prst="rect">
            <a:avLst/>
          </a:prstGeom>
          <a:gradFill>
            <a:gsLst>
              <a:gs pos="75000">
                <a:srgbClr val="19234D"/>
              </a:gs>
              <a:gs pos="100000">
                <a:srgbClr val="32459A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572" dirty="0"/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D4F5C9F6-F245-1100-151E-496F2C2FC566}"/>
              </a:ext>
            </a:extLst>
          </p:cNvPr>
          <p:cNvSpPr/>
          <p:nvPr/>
        </p:nvSpPr>
        <p:spPr>
          <a:xfrm>
            <a:off x="-5404" y="347145"/>
            <a:ext cx="9169523" cy="510333"/>
          </a:xfrm>
          <a:prstGeom prst="rect">
            <a:avLst/>
          </a:prstGeom>
          <a:solidFill>
            <a:srgbClr val="32459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59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78" eaLnBrk="0">
              <a:lnSpc>
                <a:spcPct val="87000"/>
              </a:lnSpc>
              <a:spcBef>
                <a:spcPts val="10"/>
              </a:spcBef>
            </a:pPr>
            <a:r>
              <a:rPr lang="zh-CN" altLang="en-US" sz="2183" kern="0" spc="-4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四、总结</a:t>
            </a:r>
            <a:endParaRPr sz="2183" dirty="0"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2B68A408-0722-E8AE-94B7-34355263089E}"/>
              </a:ext>
            </a:extLst>
          </p:cNvPr>
          <p:cNvSpPr/>
          <p:nvPr/>
        </p:nvSpPr>
        <p:spPr>
          <a:xfrm>
            <a:off x="10807" y="363"/>
            <a:ext cx="9132145" cy="36103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/>
          <a:lstStyle/>
          <a:p>
            <a:pPr marL="244458" algn="ctr" eaLnBrk="0">
              <a:lnSpc>
                <a:spcPct val="98000"/>
              </a:lnSpc>
            </a:pPr>
            <a:endParaRPr sz="1191" dirty="0"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386F408-0AF0-F4F5-F347-844ABC1F6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" y="6372741"/>
            <a:ext cx="9143915" cy="485384"/>
          </a:xfrm>
          <a:prstGeom prst="rect">
            <a:avLst/>
          </a:prstGeom>
        </p:spPr>
      </p:pic>
      <p:sp>
        <p:nvSpPr>
          <p:cNvPr id="4" name="灯片编号占位符 7">
            <a:extLst>
              <a:ext uri="{FF2B5EF4-FFF2-40B4-BE49-F238E27FC236}">
                <a16:creationId xmlns:a16="http://schemas.microsoft.com/office/drawing/2014/main" id="{8A641214-F0C8-7653-4491-49D999A8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613652"/>
            <a:ext cx="9142945" cy="244348"/>
          </a:xfrm>
        </p:spPr>
        <p:txBody>
          <a:bodyPr/>
          <a:lstStyle/>
          <a:p>
            <a:pPr algn="just"/>
            <a:r>
              <a:rPr lang="zh-CN" altLang="en-US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  <a:ext uri="{DAF060AB-1E55-43B9-8AAB-6FB025537F2F}">
                      <wpsdc:hlinkUnderline xmlns:lc="http://schemas.openxmlformats.org/drawingml/2006/lockedCanvas" xmlns:wpsdc="http://www.wps.cn/officeDocument/2017/drawingmlCustomData" xmlns="" val="0"/>
                    </a:ext>
                  </a:extLst>
                </a:hlinkClick>
              </a:rPr>
              <a:t>主标题</a:t>
            </a:r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    </a:t>
            </a:r>
            <a:fld id="{56B162AC-E4BD-4A21-A185-0A624D66FBAB}" type="slidenum">
              <a:rPr lang="zh-CN" altLang="en-US" sz="1000" kern="0" spc="99" smtClean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pPr algn="just"/>
              <a:t>15</a:t>
            </a:fld>
            <a:r>
              <a:rPr lang="en-US" altLang="zh-CN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/15</a:t>
            </a:r>
            <a:endParaRPr lang="zh-CN" altLang="en-US" sz="1000" kern="0" spc="99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7">
            <a:extLst>
              <a:ext uri="{FF2B5EF4-FFF2-40B4-BE49-F238E27FC236}">
                <a16:creationId xmlns:a16="http://schemas.microsoft.com/office/drawing/2014/main" id="{94E6CA73-37A3-7024-2138-5AAF76BB3E8B}"/>
              </a:ext>
            </a:extLst>
          </p:cNvPr>
          <p:cNvSpPr txBox="1">
            <a:spLocks/>
          </p:cNvSpPr>
          <p:nvPr/>
        </p:nvSpPr>
        <p:spPr>
          <a:xfrm>
            <a:off x="16824" y="6369179"/>
            <a:ext cx="9142945" cy="244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000" kern="0" spc="99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</a:rPr>
              <a:t>																	              </a:t>
            </a:r>
            <a:r>
              <a:rPr lang="zh-CN" altLang="en-US" sz="1000" kern="0" spc="99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金融学院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502A1C5-B193-2838-A35E-09D4D2BCD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93279"/>
              </p:ext>
            </p:extLst>
          </p:nvPr>
        </p:nvGraphicFramePr>
        <p:xfrm>
          <a:off x="0" y="31986"/>
          <a:ext cx="9142944" cy="34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736">
                  <a:extLst>
                    <a:ext uri="{9D8B030D-6E8A-4147-A177-3AD203B41FA5}">
                      <a16:colId xmlns:a16="http://schemas.microsoft.com/office/drawing/2014/main" val="35508953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883981781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2429875155"/>
                    </a:ext>
                  </a:extLst>
                </a:gridCol>
                <a:gridCol w="2285736">
                  <a:extLst>
                    <a:ext uri="{9D8B030D-6E8A-4147-A177-3AD203B41FA5}">
                      <a16:colId xmlns:a16="http://schemas.microsoft.com/office/drawing/2014/main" val="1555518050"/>
                    </a:ext>
                  </a:extLst>
                </a:gridCol>
              </a:tblGrid>
              <a:tr h="34097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引言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数据与模型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cap="none" spc="0" dirty="0">
                          <a:ln w="0"/>
                          <a:solidFill>
                            <a:schemeClr val="bg1">
                              <a:lumMod val="75000"/>
                            </a:schemeClr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经济检验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0" kern="1200" cap="none" spc="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楷体" panose="02010609060101010101" pitchFamily="49" charset="-122"/>
                          <a:ea typeface="楷体" panose="02010609060101010101" pitchFamily="49" charset="-122"/>
                          <a:cs typeface="+mn-cs"/>
                        </a:rPr>
                        <a:t>总结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8113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155CC72-5853-0638-5E94-D172B9A2D06E}"/>
              </a:ext>
            </a:extLst>
          </p:cNvPr>
          <p:cNvSpPr txBox="1"/>
          <p:nvPr/>
        </p:nvSpPr>
        <p:spPr>
          <a:xfrm>
            <a:off x="301303" y="955963"/>
            <a:ext cx="8573985" cy="34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（十一）结论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可预测性：机器学习可以对汇率预测进行改善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预测重要性：重要的预测因子随期限变化，从高频价格信号迁移到宏观变量与期限结构，并呈现一定时变性。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经济含义：在合理交易规则与成本设定下，模型能够获得为更高的夏普比率与更小回撤，具有明确的经济意义。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Times New Roman" panose="02020603050405020304" pitchFamily="18" charset="0"/>
                <a:ea typeface="楷体" panose="02010609060101010101" pitchFamily="49" charset="-122"/>
              </a:rPr>
              <a:t>（十二）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展望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真实模拟：更贴近真实交易摩擦与仓位约束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Times New Roman" panose="02020603050405020304" pitchFamily="18" charset="0"/>
                <a:ea typeface="楷体" panose="02010609060101010101" pitchFamily="49" charset="-122"/>
              </a:rPr>
              <a:t>复杂模型：可以引入更复杂的深度学习模型</a:t>
            </a:r>
            <a:endParaRPr lang="en-US" altLang="zh-CN" sz="14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228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478</TotalTime>
  <Words>1555</Words>
  <Application>Microsoft Office PowerPoint</Application>
  <PresentationFormat>全屏显示(4:3)</PresentationFormat>
  <Paragraphs>198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等线</vt:lpstr>
      <vt:lpstr>楷体</vt:lpstr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子平 李</dc:creator>
  <cp:lastModifiedBy>子平 李</cp:lastModifiedBy>
  <cp:revision>245</cp:revision>
  <dcterms:created xsi:type="dcterms:W3CDTF">2025-12-23T08:04:30Z</dcterms:created>
  <dcterms:modified xsi:type="dcterms:W3CDTF">2025-12-24T09:19:58Z</dcterms:modified>
</cp:coreProperties>
</file>